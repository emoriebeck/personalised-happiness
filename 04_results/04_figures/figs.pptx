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711" r:id="rId2"/>
    <p:sldId id="713" r:id="rId3"/>
    <p:sldId id="427" r:id="rId4"/>
    <p:sldId id="426" r:id="rId5"/>
    <p:sldId id="71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27"/>
  </p:normalViewPr>
  <p:slideViewPr>
    <p:cSldViewPr snapToGrid="0">
      <p:cViewPr varScale="1">
        <p:scale>
          <a:sx n="102" d="100"/>
          <a:sy n="102" d="100"/>
        </p:scale>
        <p:origin x="192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AB7C1F-CB37-0044-863C-61E3F90BD542}" type="datetimeFigureOut">
              <a:rPr lang="en-US" smtClean="0"/>
              <a:t>5/30/23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7438C3-B004-314B-85DE-A7F57C39E6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403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to talk about how personality unfolds over time and why it's important to consider these individual-level, idiographic structures of personality and not just look at average structures, we're going to shift gears a bit to talk about life satisfaction and satisfaction in domains of life.</a:t>
            </a:r>
          </a:p>
          <a:p>
            <a:endParaRPr lang="en-US" dirty="0"/>
          </a:p>
          <a:p>
            <a:r>
              <a:rPr lang="en-US" dirty="0"/>
              <a:t>Life satisfaction offers a really unique opportunity to work through why </a:t>
            </a:r>
            <a:r>
              <a:rPr lang="en-US" dirty="0" err="1"/>
              <a:t>disaggragating</a:t>
            </a:r>
            <a:r>
              <a:rPr lang="en-US" dirty="0"/>
              <a:t> individual's patterns from average patterns across a population because there is rich theoretical thinking about the patterns and their direction.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FC9B9-325B-6C48-A289-E1338E8D9E1A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682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FC9B9-325B-6C48-A289-E1338E8D9E1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773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014B6-7E59-8400-1A61-67F7A65D43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20DE3B-B519-1D4F-E349-32A7BD4F7F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78E85-0D77-1845-BD61-19EFE9D43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33332-330A-014B-A2F4-AC7474108D4D}" type="datetimeFigureOut">
              <a:rPr lang="en-US" smtClean="0"/>
              <a:t>5/30/23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558D3-4C2C-CD9A-FD44-CEB8DD092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FFA31-E654-B7FE-74C5-A49C48557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E535E-9F51-8443-BBA7-106603AE7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714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10609-5085-FD45-FAF8-53767C301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84BF8-23ED-9E43-92CD-DB775E203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520BA-5229-C13C-D3AE-C35B92C46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33332-330A-014B-A2F4-AC7474108D4D}" type="datetimeFigureOut">
              <a:rPr lang="en-US" smtClean="0"/>
              <a:t>5/30/23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BE21B-475E-20F0-67A2-0B01E092F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A71E7-42AC-C6D8-703B-7C3B48C3E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E535E-9F51-8443-BBA7-106603AE7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81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9B341-89D1-017F-45EC-6FF956630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705450-EA98-357D-1563-7A7D7A0DF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A475B-7D90-60AE-5C70-E24F43FF0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33332-330A-014B-A2F4-AC7474108D4D}" type="datetimeFigureOut">
              <a:rPr lang="en-US" smtClean="0"/>
              <a:t>5/30/23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6D716-A4D0-CB7B-69E0-789084BC1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C2C1D-346B-C3BA-BB77-4DF794B83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E535E-9F51-8443-BBA7-106603AE7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726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92B83-1F78-C6F5-DD59-6E6BFCC4A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038DA-1A9C-C99B-C231-3555E4DBA8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7AC409-6D59-AC5A-5BC3-32E1ADFAFC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4B17BD-63E5-E792-BDB2-313C07947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33332-330A-014B-A2F4-AC7474108D4D}" type="datetimeFigureOut">
              <a:rPr lang="en-US" smtClean="0"/>
              <a:t>5/30/23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0F01E7-A2AD-E3E0-5FA8-F5C13F50F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A3AD43-0EB9-D788-BDE5-C08C4E239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E535E-9F51-8443-BBA7-106603AE7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48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68F14-D3F5-BDAF-7A6A-BBBEC4764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0590C4-66BA-8DCB-AF9D-FAB93A88D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512B65-86AD-3391-84D1-3E15FA405F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808E4C-5080-A0CC-4DAD-7232F7C0AA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B4B96F-AD3B-824D-697F-76A8FD594D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A6E05-BAA1-FC10-C040-666DF3AD6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33332-330A-014B-A2F4-AC7474108D4D}" type="datetimeFigureOut">
              <a:rPr lang="en-US" smtClean="0"/>
              <a:t>5/30/23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D63B0C-C5CC-15AA-53D4-AA27D5E14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2FD49A-BDB0-E487-0348-35196BC43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E535E-9F51-8443-BBA7-106603AE7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27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03B16-4404-676B-A082-B62370729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C90695-56C0-282D-88E8-8D5D67F75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33332-330A-014B-A2F4-AC7474108D4D}" type="datetimeFigureOut">
              <a:rPr lang="en-US" smtClean="0"/>
              <a:t>5/30/23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55246C-F41C-3C82-BAC2-FB4807457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38EBE5-1E5E-4590-A22E-1C5D19FC8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E535E-9F51-8443-BBA7-106603AE7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041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F4AD9F-A552-D5C3-889E-36BDC248F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33332-330A-014B-A2F4-AC7474108D4D}" type="datetimeFigureOut">
              <a:rPr lang="en-US" smtClean="0"/>
              <a:t>5/30/23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3590F0-527B-AFED-1A0A-197CCD9FA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431DB-7EA7-F65A-CEDE-FDFF2FA08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E535E-9F51-8443-BBA7-106603AE7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627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A8492-4BBC-656E-3EB5-ACBE196A1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26223-223E-6AC9-32F7-09004FDB2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2C69EC-A881-2E75-11F7-3A171A2CFF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E4D742-F149-029A-058D-25C9FD5FE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33332-330A-014B-A2F4-AC7474108D4D}" type="datetimeFigureOut">
              <a:rPr lang="en-US" smtClean="0"/>
              <a:t>5/30/23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53CBC-8B39-3AB8-524B-A12A31E71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7C277A-562E-7F1A-0AEE-A2341C12F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E535E-9F51-8443-BBA7-106603AE7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184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97DB4-50EC-F372-88E2-6F0D3BBC6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152071-9D38-7D26-D9F7-E9069384A4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7B0CA4-653A-2163-ABFD-1ECE9D31C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9774DB-2596-267D-1D8E-215359B5E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33332-330A-014B-A2F4-AC7474108D4D}" type="datetimeFigureOut">
              <a:rPr lang="en-US" smtClean="0"/>
              <a:t>5/30/23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1BF5E-E4D5-572B-4762-7AEFCC3A1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CC8F2C-409A-54BE-2D7D-163B7BDDD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E535E-9F51-8443-BBA7-106603AE7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881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20691-F631-11BE-891C-8D0E3E43D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4CA42-CA2B-138E-8CEE-975F5B5478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99BE5-6199-8760-D3E4-7E4A7E164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33332-330A-014B-A2F4-AC7474108D4D}" type="datetimeFigureOut">
              <a:rPr lang="en-US" smtClean="0"/>
              <a:t>5/30/23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E353E-64D8-FAD7-9889-6F4AA05BF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E6439-71C5-5629-DFB4-515B414BC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E535E-9F51-8443-BBA7-106603AE7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868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A00212-8856-9EB6-7D9F-1677211B4A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C3D06-08B2-B54F-634A-02D79851F3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D58EF-FA6C-4D62-C7EF-8CA4B5079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33332-330A-014B-A2F4-AC7474108D4D}" type="datetimeFigureOut">
              <a:rPr lang="en-US" smtClean="0"/>
              <a:t>5/30/23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A7D06-5852-732D-79A4-D9CA4AE39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15C33-4FB9-68E9-D61F-43349B96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E535E-9F51-8443-BBA7-106603AE7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544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6460A0-F00F-E000-DAC1-A2925ED9F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BBE61-20E5-C607-8C91-B8D0CEC08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B562B-1A5F-DECF-601C-A67A6BD613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433332-330A-014B-A2F4-AC7474108D4D}" type="datetimeFigureOut">
              <a:rPr lang="en-US" smtClean="0"/>
              <a:t>5/30/23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CC1DF-7910-0D49-6CE6-AFED6C908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D1DB1-A250-4685-03C6-81044DE977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1E535E-9F51-8443-BBA7-106603AE7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874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F5A1B27-83B3-C344-9DE4-5D6AD664885A}"/>
              </a:ext>
            </a:extLst>
          </p:cNvPr>
          <p:cNvSpPr/>
          <p:nvPr/>
        </p:nvSpPr>
        <p:spPr>
          <a:xfrm rot="16200000">
            <a:off x="-438177" y="4884046"/>
            <a:ext cx="1824408" cy="73306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" pitchFamily="2" charset="0"/>
              </a:rPr>
              <a:t>Domain Satisfaction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4865957-5CB4-974E-BE58-D8C2FFA91CED}"/>
              </a:ext>
            </a:extLst>
          </p:cNvPr>
          <p:cNvSpPr>
            <a:spLocks noChangeAspect="1"/>
          </p:cNvSpPr>
          <p:nvPr/>
        </p:nvSpPr>
        <p:spPr>
          <a:xfrm flipV="1">
            <a:off x="5222236" y="925525"/>
            <a:ext cx="1737360" cy="1737360"/>
          </a:xfrm>
          <a:prstGeom prst="ellipse">
            <a:avLst/>
          </a:prstGeom>
          <a:solidFill>
            <a:srgbClr val="8BD3C7"/>
          </a:solidFill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6E3D3C-DE32-B641-9D0A-7952A9E2C285}"/>
              </a:ext>
            </a:extLst>
          </p:cNvPr>
          <p:cNvSpPr/>
          <p:nvPr/>
        </p:nvSpPr>
        <p:spPr>
          <a:xfrm>
            <a:off x="5097274" y="1421619"/>
            <a:ext cx="1997453" cy="6012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ourier" pitchFamily="2" charset="0"/>
              </a:rPr>
              <a:t>Life Satisfaction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4EACA81-9670-4144-A591-262353A8E306}"/>
              </a:ext>
            </a:extLst>
          </p:cNvPr>
          <p:cNvGrpSpPr/>
          <p:nvPr/>
        </p:nvGrpSpPr>
        <p:grpSpPr>
          <a:xfrm>
            <a:off x="1089853" y="4408468"/>
            <a:ext cx="10012293" cy="1754313"/>
            <a:chOff x="1119601" y="927083"/>
            <a:chExt cx="10012293" cy="1754313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1A69821-8AA4-E54E-A35A-489CA749BD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9601" y="927084"/>
              <a:ext cx="1737360" cy="1737360"/>
            </a:xfrm>
            <a:prstGeom prst="ellipse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" pitchFamily="2" charset="0"/>
                </a:rPr>
                <a:t>Health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FCAC7D0-F2DE-624C-941D-5ADF1FEF674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88334" y="927084"/>
              <a:ext cx="1737360" cy="1737360"/>
            </a:xfrm>
            <a:prstGeom prst="ellipse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" pitchFamily="2" charset="0"/>
                </a:rPr>
                <a:t>Income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2B36F2B-B24A-A844-8E0F-C61E34FDED1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57067" y="927083"/>
              <a:ext cx="1737360" cy="1737360"/>
            </a:xfrm>
            <a:prstGeom prst="ellipse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" pitchFamily="2" charset="0"/>
                </a:rPr>
                <a:t>Housing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C235BBC-0C87-4244-B2EB-2D145F590C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25800" y="944036"/>
              <a:ext cx="1737360" cy="1737360"/>
            </a:xfrm>
            <a:prstGeom prst="ellipse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" pitchFamily="2" charset="0"/>
                </a:rPr>
                <a:t>Job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24F1A32-8BF9-274E-96BA-AD1AFCCE3AD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94534" y="944036"/>
              <a:ext cx="1737360" cy="1737360"/>
            </a:xfrm>
            <a:prstGeom prst="ellipse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" pitchFamily="2" charset="0"/>
                </a:rPr>
                <a:t>Relat-ionship</a:t>
              </a:r>
            </a:p>
          </p:txBody>
        </p: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346A11F-3247-DB4B-B945-1F81C6A0FD96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1958533" y="2566411"/>
            <a:ext cx="3715757" cy="1842058"/>
          </a:xfrm>
          <a:prstGeom prst="straightConnector1">
            <a:avLst/>
          </a:prstGeom>
          <a:ln w="508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9B6163C-6E92-8C43-B106-8BADA37FE82F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6517714" y="2527477"/>
            <a:ext cx="3715752" cy="1897944"/>
          </a:xfrm>
          <a:prstGeom prst="straightConnector1">
            <a:avLst/>
          </a:prstGeom>
          <a:ln w="508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58A1FBF-9B70-9249-84AE-F153B5585ED5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4027266" y="2662887"/>
            <a:ext cx="1763934" cy="1745582"/>
          </a:xfrm>
          <a:prstGeom prst="straightConnector1">
            <a:avLst/>
          </a:prstGeom>
          <a:ln w="508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8DF83C9-A6EE-804C-92DB-6CD4D2CB0265}"/>
              </a:ext>
            </a:extLst>
          </p:cNvPr>
          <p:cNvCxnSpPr>
            <a:cxnSpLocks/>
          </p:cNvCxnSpPr>
          <p:nvPr/>
        </p:nvCxnSpPr>
        <p:spPr>
          <a:xfrm flipH="1" flipV="1">
            <a:off x="6400802" y="2636642"/>
            <a:ext cx="1763934" cy="1762535"/>
          </a:xfrm>
          <a:prstGeom prst="straightConnector1">
            <a:avLst/>
          </a:prstGeom>
          <a:ln w="508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3F4A030-51B6-5042-A60C-EACDDC13B305}"/>
              </a:ext>
            </a:extLst>
          </p:cNvPr>
          <p:cNvCxnSpPr>
            <a:cxnSpLocks/>
            <a:stCxn id="8" idx="0"/>
            <a:endCxn id="11" idx="0"/>
          </p:cNvCxnSpPr>
          <p:nvPr/>
        </p:nvCxnSpPr>
        <p:spPr>
          <a:xfrm flipH="1" flipV="1">
            <a:off x="6090916" y="2662885"/>
            <a:ext cx="5083" cy="1745583"/>
          </a:xfrm>
          <a:prstGeom prst="straightConnector1">
            <a:avLst/>
          </a:prstGeom>
          <a:ln w="508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4BD83FB7-3256-B64A-899B-BD11197B6429}"/>
              </a:ext>
            </a:extLst>
          </p:cNvPr>
          <p:cNvSpPr/>
          <p:nvPr/>
        </p:nvSpPr>
        <p:spPr>
          <a:xfrm>
            <a:off x="292775" y="1013375"/>
            <a:ext cx="4207014" cy="1241266"/>
          </a:xfrm>
          <a:prstGeom prst="roundRect">
            <a:avLst/>
          </a:prstGeom>
          <a:noFill/>
          <a:ln w="57150">
            <a:solidFill>
              <a:srgbClr val="5070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ourier" pitchFamily="2" charset="0"/>
              </a:rPr>
              <a:t>Bottom-Up</a:t>
            </a:r>
          </a:p>
          <a:p>
            <a:pPr algn="ctr"/>
            <a:r>
              <a:rPr lang="en-US" sz="3200" b="1" dirty="0">
                <a:solidFill>
                  <a:schemeClr val="tx1"/>
                </a:solidFill>
                <a:latin typeface="Courier" pitchFamily="2" charset="0"/>
              </a:rPr>
              <a:t>(Situational)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B79A36-5D8C-8D4D-B785-8BAABEEECFCE}"/>
              </a:ext>
            </a:extLst>
          </p:cNvPr>
          <p:cNvSpPr/>
          <p:nvPr/>
        </p:nvSpPr>
        <p:spPr>
          <a:xfrm>
            <a:off x="5565847" y="6368143"/>
            <a:ext cx="6626153" cy="4856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Courier" pitchFamily="2" charset="0"/>
              </a:rPr>
              <a:t>*Cheung, *Beck, Thapa, &amp; Jackson (under review)</a:t>
            </a:r>
          </a:p>
        </p:txBody>
      </p:sp>
      <p:pic>
        <p:nvPicPr>
          <p:cNvPr id="21" name="Picture 20" descr="Icon&#10;&#10;Description automatically generated">
            <a:extLst>
              <a:ext uri="{FF2B5EF4-FFF2-40B4-BE49-F238E27FC236}">
                <a16:creationId xmlns:a16="http://schemas.microsoft.com/office/drawing/2014/main" id="{62DDF58E-BA43-F949-9C53-FF0AEE925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1207" y="6046015"/>
            <a:ext cx="363998" cy="405598"/>
          </a:xfrm>
          <a:prstGeom prst="rect">
            <a:avLst/>
          </a:prstGeom>
        </p:spPr>
      </p:pic>
      <p:pic>
        <p:nvPicPr>
          <p:cNvPr id="22" name="Picture 21" descr="Icon&#10;&#10;Description automatically generated">
            <a:extLst>
              <a:ext uri="{FF2B5EF4-FFF2-40B4-BE49-F238E27FC236}">
                <a16:creationId xmlns:a16="http://schemas.microsoft.com/office/drawing/2014/main" id="{69D7B029-7A5F-3F4E-8513-68DF4D0A2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7779" y="6031048"/>
            <a:ext cx="363998" cy="405598"/>
          </a:xfrm>
          <a:prstGeom prst="rect">
            <a:avLst/>
          </a:prstGeom>
        </p:spPr>
      </p:pic>
      <p:pic>
        <p:nvPicPr>
          <p:cNvPr id="23" name="Picture 22" descr="Text&#10;&#10;Description automatically generated">
            <a:extLst>
              <a:ext uri="{FF2B5EF4-FFF2-40B4-BE49-F238E27FC236}">
                <a16:creationId xmlns:a16="http://schemas.microsoft.com/office/drawing/2014/main" id="{E60E3DFE-6497-0D44-AD93-120786FDC3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8015" y="6046015"/>
            <a:ext cx="421941" cy="421941"/>
          </a:xfrm>
          <a:prstGeom prst="rect">
            <a:avLst/>
          </a:prstGeom>
        </p:spPr>
      </p:pic>
      <p:pic>
        <p:nvPicPr>
          <p:cNvPr id="24" name="Picture 23" descr="A picture containing text, sign, businesscard&#10;&#10;Description automatically generated">
            <a:extLst>
              <a:ext uri="{FF2B5EF4-FFF2-40B4-BE49-F238E27FC236}">
                <a16:creationId xmlns:a16="http://schemas.microsoft.com/office/drawing/2014/main" id="{CD07AAD4-971C-5447-AC82-8CA0AC598E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05780" y="6022876"/>
            <a:ext cx="363999" cy="421941"/>
          </a:xfrm>
          <a:prstGeom prst="rect">
            <a:avLst/>
          </a:prstGeom>
        </p:spPr>
      </p:pic>
      <p:graphicFrame>
        <p:nvGraphicFramePr>
          <p:cNvPr id="25" name="Table 2">
            <a:extLst>
              <a:ext uri="{FF2B5EF4-FFF2-40B4-BE49-F238E27FC236}">
                <a16:creationId xmlns:a16="http://schemas.microsoft.com/office/drawing/2014/main" id="{6B8234DB-FB85-564A-8063-17CE7840FFDB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5181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2162651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314008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42205149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292874861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Aim 1: Individuals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+mn-lt"/>
                        </a:rPr>
                        <a:t>Aim 2: Dynamics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070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Aim 3: Integration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Future Directions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9593677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B41E2AE0-B808-6143-B51B-9DDFD5E71938}"/>
              </a:ext>
            </a:extLst>
          </p:cNvPr>
          <p:cNvSpPr/>
          <p:nvPr/>
        </p:nvSpPr>
        <p:spPr>
          <a:xfrm>
            <a:off x="474027" y="2251091"/>
            <a:ext cx="18389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urier" pitchFamily="2" charset="0"/>
              </a:rPr>
              <a:t>Diener, 1984</a:t>
            </a:r>
            <a:endParaRPr lang="en-US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393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F5A1B27-83B3-C344-9DE4-5D6AD664885A}"/>
              </a:ext>
            </a:extLst>
          </p:cNvPr>
          <p:cNvSpPr/>
          <p:nvPr/>
        </p:nvSpPr>
        <p:spPr>
          <a:xfrm rot="16200000">
            <a:off x="-438177" y="4884046"/>
            <a:ext cx="1824408" cy="73306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" pitchFamily="2" charset="0"/>
              </a:rPr>
              <a:t>Domain Satisfaction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4865957-5CB4-974E-BE58-D8C2FFA91CED}"/>
              </a:ext>
            </a:extLst>
          </p:cNvPr>
          <p:cNvSpPr>
            <a:spLocks noChangeAspect="1"/>
          </p:cNvSpPr>
          <p:nvPr/>
        </p:nvSpPr>
        <p:spPr>
          <a:xfrm flipV="1">
            <a:off x="5222236" y="925525"/>
            <a:ext cx="1737360" cy="1737360"/>
          </a:xfrm>
          <a:prstGeom prst="ellipse">
            <a:avLst/>
          </a:prstGeom>
          <a:solidFill>
            <a:srgbClr val="8BD3C7"/>
          </a:solidFill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6E3D3C-DE32-B641-9D0A-7952A9E2C285}"/>
              </a:ext>
            </a:extLst>
          </p:cNvPr>
          <p:cNvSpPr/>
          <p:nvPr/>
        </p:nvSpPr>
        <p:spPr>
          <a:xfrm>
            <a:off x="5097274" y="1421619"/>
            <a:ext cx="1997453" cy="6012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ourier" pitchFamily="2" charset="0"/>
              </a:rPr>
              <a:t>Life Satisfaction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4EACA81-9670-4144-A591-262353A8E306}"/>
              </a:ext>
            </a:extLst>
          </p:cNvPr>
          <p:cNvGrpSpPr/>
          <p:nvPr/>
        </p:nvGrpSpPr>
        <p:grpSpPr>
          <a:xfrm>
            <a:off x="1089853" y="4408468"/>
            <a:ext cx="10012293" cy="1754313"/>
            <a:chOff x="1119601" y="927083"/>
            <a:chExt cx="10012293" cy="1754313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1A69821-8AA4-E54E-A35A-489CA749BD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9601" y="927084"/>
              <a:ext cx="1737360" cy="1737360"/>
            </a:xfrm>
            <a:prstGeom prst="ellipse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" pitchFamily="2" charset="0"/>
                </a:rPr>
                <a:t>Health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FCAC7D0-F2DE-624C-941D-5ADF1FEF674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88334" y="927084"/>
              <a:ext cx="1737360" cy="1737360"/>
            </a:xfrm>
            <a:prstGeom prst="ellipse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" pitchFamily="2" charset="0"/>
                </a:rPr>
                <a:t>Income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2B36F2B-B24A-A844-8E0F-C61E34FDED1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57067" y="927083"/>
              <a:ext cx="1737360" cy="1737360"/>
            </a:xfrm>
            <a:prstGeom prst="ellipse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" pitchFamily="2" charset="0"/>
                </a:rPr>
                <a:t>Housing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C235BBC-0C87-4244-B2EB-2D145F590C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25800" y="944036"/>
              <a:ext cx="1737360" cy="1737360"/>
            </a:xfrm>
            <a:prstGeom prst="ellipse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" pitchFamily="2" charset="0"/>
                </a:rPr>
                <a:t>Job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24F1A32-8BF9-274E-96BA-AD1AFCCE3AD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94534" y="944036"/>
              <a:ext cx="1737360" cy="1737360"/>
            </a:xfrm>
            <a:prstGeom prst="ellipse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" pitchFamily="2" charset="0"/>
                </a:rPr>
                <a:t>Relat-ionship</a:t>
              </a:r>
            </a:p>
          </p:txBody>
        </p: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346A11F-3247-DB4B-B945-1F81C6A0FD96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1958533" y="2566411"/>
            <a:ext cx="3715757" cy="1842058"/>
          </a:xfrm>
          <a:prstGeom prst="straightConnector1">
            <a:avLst/>
          </a:prstGeom>
          <a:ln w="508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9B6163C-6E92-8C43-B106-8BADA37FE82F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6517714" y="2527477"/>
            <a:ext cx="3715752" cy="1897944"/>
          </a:xfrm>
          <a:prstGeom prst="straightConnector1">
            <a:avLst/>
          </a:prstGeom>
          <a:ln w="508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58A1FBF-9B70-9249-84AE-F153B5585ED5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4027266" y="2636642"/>
            <a:ext cx="1763934" cy="1771827"/>
          </a:xfrm>
          <a:prstGeom prst="straightConnector1">
            <a:avLst/>
          </a:prstGeom>
          <a:ln w="508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8DF83C9-A6EE-804C-92DB-6CD4D2CB0265}"/>
              </a:ext>
            </a:extLst>
          </p:cNvPr>
          <p:cNvCxnSpPr>
            <a:cxnSpLocks/>
          </p:cNvCxnSpPr>
          <p:nvPr/>
        </p:nvCxnSpPr>
        <p:spPr>
          <a:xfrm flipH="1" flipV="1">
            <a:off x="6400802" y="2636642"/>
            <a:ext cx="1763934" cy="1762535"/>
          </a:xfrm>
          <a:prstGeom prst="straightConnector1">
            <a:avLst/>
          </a:prstGeom>
          <a:ln w="508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3F4A030-51B6-5042-A60C-EACDDC13B305}"/>
              </a:ext>
            </a:extLst>
          </p:cNvPr>
          <p:cNvCxnSpPr>
            <a:cxnSpLocks/>
            <a:stCxn id="8" idx="0"/>
            <a:endCxn id="11" idx="0"/>
          </p:cNvCxnSpPr>
          <p:nvPr/>
        </p:nvCxnSpPr>
        <p:spPr>
          <a:xfrm flipH="1" flipV="1">
            <a:off x="6090916" y="2662885"/>
            <a:ext cx="5083" cy="1745583"/>
          </a:xfrm>
          <a:prstGeom prst="straightConnector1">
            <a:avLst/>
          </a:prstGeom>
          <a:ln w="50800">
            <a:solidFill>
              <a:schemeClr val="tx1"/>
            </a:solidFill>
            <a:headEnd type="triangl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4BD83FB7-3256-B64A-899B-BD11197B6429}"/>
              </a:ext>
            </a:extLst>
          </p:cNvPr>
          <p:cNvSpPr/>
          <p:nvPr/>
        </p:nvSpPr>
        <p:spPr>
          <a:xfrm>
            <a:off x="292775" y="1013375"/>
            <a:ext cx="4207014" cy="1241266"/>
          </a:xfrm>
          <a:prstGeom prst="roundRect">
            <a:avLst/>
          </a:prstGeom>
          <a:noFill/>
          <a:ln w="57150">
            <a:solidFill>
              <a:srgbClr val="5070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ourier" pitchFamily="2" charset="0"/>
              </a:rPr>
              <a:t>Top-Down</a:t>
            </a:r>
          </a:p>
          <a:p>
            <a:pPr algn="ctr"/>
            <a:r>
              <a:rPr lang="en-US" sz="3200" b="1" dirty="0">
                <a:solidFill>
                  <a:schemeClr val="tx1"/>
                </a:solidFill>
                <a:latin typeface="Courier" pitchFamily="2" charset="0"/>
              </a:rPr>
              <a:t>(Dispositional)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39DE8AC-6128-674E-9206-EBFE5E4BAC44}"/>
              </a:ext>
            </a:extLst>
          </p:cNvPr>
          <p:cNvSpPr/>
          <p:nvPr/>
        </p:nvSpPr>
        <p:spPr>
          <a:xfrm>
            <a:off x="5565847" y="6368143"/>
            <a:ext cx="6626153" cy="4856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Courier" pitchFamily="2" charset="0"/>
              </a:rPr>
              <a:t>*Cheung, *Beck, Thapa, &amp; Jackson (under review)</a:t>
            </a:r>
          </a:p>
        </p:txBody>
      </p:sp>
      <p:pic>
        <p:nvPicPr>
          <p:cNvPr id="21" name="Picture 20" descr="Icon&#10;&#10;Description automatically generated">
            <a:extLst>
              <a:ext uri="{FF2B5EF4-FFF2-40B4-BE49-F238E27FC236}">
                <a16:creationId xmlns:a16="http://schemas.microsoft.com/office/drawing/2014/main" id="{514DC8CF-383C-E642-953B-407BD639A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1207" y="6046015"/>
            <a:ext cx="363998" cy="405598"/>
          </a:xfrm>
          <a:prstGeom prst="rect">
            <a:avLst/>
          </a:prstGeom>
        </p:spPr>
      </p:pic>
      <p:pic>
        <p:nvPicPr>
          <p:cNvPr id="22" name="Picture 21" descr="Icon&#10;&#10;Description automatically generated">
            <a:extLst>
              <a:ext uri="{FF2B5EF4-FFF2-40B4-BE49-F238E27FC236}">
                <a16:creationId xmlns:a16="http://schemas.microsoft.com/office/drawing/2014/main" id="{459EC2C9-264E-E749-9216-057645D7A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7779" y="6031048"/>
            <a:ext cx="363998" cy="405598"/>
          </a:xfrm>
          <a:prstGeom prst="rect">
            <a:avLst/>
          </a:prstGeom>
        </p:spPr>
      </p:pic>
      <p:pic>
        <p:nvPicPr>
          <p:cNvPr id="23" name="Picture 22" descr="Text&#10;&#10;Description automatically generated">
            <a:extLst>
              <a:ext uri="{FF2B5EF4-FFF2-40B4-BE49-F238E27FC236}">
                <a16:creationId xmlns:a16="http://schemas.microsoft.com/office/drawing/2014/main" id="{5C7A8A7B-CC23-8641-965E-643CE91F2A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8015" y="6046015"/>
            <a:ext cx="421941" cy="421941"/>
          </a:xfrm>
          <a:prstGeom prst="rect">
            <a:avLst/>
          </a:prstGeom>
        </p:spPr>
      </p:pic>
      <p:pic>
        <p:nvPicPr>
          <p:cNvPr id="24" name="Picture 23" descr="A picture containing text, sign, businesscard&#10;&#10;Description automatically generated">
            <a:extLst>
              <a:ext uri="{FF2B5EF4-FFF2-40B4-BE49-F238E27FC236}">
                <a16:creationId xmlns:a16="http://schemas.microsoft.com/office/drawing/2014/main" id="{0C6D77B5-8A60-0147-B8FA-D1366C7404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05780" y="6022876"/>
            <a:ext cx="363999" cy="421941"/>
          </a:xfrm>
          <a:prstGeom prst="rect">
            <a:avLst/>
          </a:prstGeom>
        </p:spPr>
      </p:pic>
      <p:graphicFrame>
        <p:nvGraphicFramePr>
          <p:cNvPr id="28" name="Table 2">
            <a:extLst>
              <a:ext uri="{FF2B5EF4-FFF2-40B4-BE49-F238E27FC236}">
                <a16:creationId xmlns:a16="http://schemas.microsoft.com/office/drawing/2014/main" id="{E1A0D553-6CF6-974D-8DD7-FEFDB73716C3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5181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2162651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314008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42205149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292874861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Aim 1: Individuals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+mn-lt"/>
                        </a:rPr>
                        <a:t>Aim 2: Dynamics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070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Aim 3: Integration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Future Directions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9593677"/>
                  </a:ext>
                </a:extLst>
              </a:tr>
            </a:tbl>
          </a:graphicData>
        </a:graphic>
      </p:graphicFrame>
      <p:sp>
        <p:nvSpPr>
          <p:cNvPr id="30" name="Rectangle 29">
            <a:extLst>
              <a:ext uri="{FF2B5EF4-FFF2-40B4-BE49-F238E27FC236}">
                <a16:creationId xmlns:a16="http://schemas.microsoft.com/office/drawing/2014/main" id="{5AA301ED-AD2C-3941-AA3E-50E59076437A}"/>
              </a:ext>
            </a:extLst>
          </p:cNvPr>
          <p:cNvSpPr/>
          <p:nvPr/>
        </p:nvSpPr>
        <p:spPr>
          <a:xfrm>
            <a:off x="474027" y="2251091"/>
            <a:ext cx="18389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urier" pitchFamily="2" charset="0"/>
              </a:rPr>
              <a:t>Diener, 1984</a:t>
            </a:r>
            <a:endParaRPr lang="en-US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7460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F5A1B27-83B3-C344-9DE4-5D6AD664885A}"/>
              </a:ext>
            </a:extLst>
          </p:cNvPr>
          <p:cNvSpPr/>
          <p:nvPr/>
        </p:nvSpPr>
        <p:spPr>
          <a:xfrm rot="16200000">
            <a:off x="-438177" y="4884046"/>
            <a:ext cx="1824408" cy="73306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ourier" pitchFamily="2" charset="0"/>
              </a:rPr>
              <a:t>Domain Satisfaction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4865957-5CB4-974E-BE58-D8C2FFA91CED}"/>
              </a:ext>
            </a:extLst>
          </p:cNvPr>
          <p:cNvSpPr>
            <a:spLocks noChangeAspect="1"/>
          </p:cNvSpPr>
          <p:nvPr/>
        </p:nvSpPr>
        <p:spPr>
          <a:xfrm flipV="1">
            <a:off x="5222236" y="925525"/>
            <a:ext cx="1737360" cy="1737360"/>
          </a:xfrm>
          <a:prstGeom prst="ellipse">
            <a:avLst/>
          </a:prstGeom>
          <a:solidFill>
            <a:srgbClr val="8BD3C7"/>
          </a:solidFill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Courier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6E3D3C-DE32-B641-9D0A-7952A9E2C285}"/>
              </a:ext>
            </a:extLst>
          </p:cNvPr>
          <p:cNvSpPr/>
          <p:nvPr/>
        </p:nvSpPr>
        <p:spPr>
          <a:xfrm>
            <a:off x="5097274" y="1421619"/>
            <a:ext cx="1997453" cy="6012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ourier" pitchFamily="2" charset="0"/>
              </a:rPr>
              <a:t>Life Satisfaction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4EACA81-9670-4144-A591-262353A8E306}"/>
              </a:ext>
            </a:extLst>
          </p:cNvPr>
          <p:cNvGrpSpPr/>
          <p:nvPr/>
        </p:nvGrpSpPr>
        <p:grpSpPr>
          <a:xfrm>
            <a:off x="1089853" y="4408468"/>
            <a:ext cx="10012293" cy="1754313"/>
            <a:chOff x="1119601" y="927083"/>
            <a:chExt cx="10012293" cy="1754313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1A69821-8AA4-E54E-A35A-489CA749BD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9601" y="927084"/>
              <a:ext cx="1737360" cy="1737360"/>
            </a:xfrm>
            <a:prstGeom prst="ellipse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" pitchFamily="2" charset="0"/>
                </a:rPr>
                <a:t>Health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FCAC7D0-F2DE-624C-941D-5ADF1FEF674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88334" y="927084"/>
              <a:ext cx="1737360" cy="1737360"/>
            </a:xfrm>
            <a:prstGeom prst="ellipse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" pitchFamily="2" charset="0"/>
                </a:rPr>
                <a:t>Income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2B36F2B-B24A-A844-8E0F-C61E34FDED1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57067" y="927083"/>
              <a:ext cx="1737360" cy="1737360"/>
            </a:xfrm>
            <a:prstGeom prst="ellipse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" pitchFamily="2" charset="0"/>
                </a:rPr>
                <a:t>Housing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C235BBC-0C87-4244-B2EB-2D145F590C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25800" y="944036"/>
              <a:ext cx="1737360" cy="1737360"/>
            </a:xfrm>
            <a:prstGeom prst="ellipse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" pitchFamily="2" charset="0"/>
                </a:rPr>
                <a:t>Job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24F1A32-8BF9-274E-96BA-AD1AFCCE3AD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94534" y="944036"/>
              <a:ext cx="1737360" cy="1737360"/>
            </a:xfrm>
            <a:prstGeom prst="ellipse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Courier" pitchFamily="2" charset="0"/>
                </a:rPr>
                <a:t>Relat-ionship</a:t>
              </a:r>
            </a:p>
          </p:txBody>
        </p: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346A11F-3247-DB4B-B945-1F81C6A0FD96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1958533" y="2566411"/>
            <a:ext cx="3715757" cy="1842058"/>
          </a:xfrm>
          <a:prstGeom prst="straightConnector1">
            <a:avLst/>
          </a:prstGeom>
          <a:ln w="50800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9B6163C-6E92-8C43-B106-8BADA37FE82F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6517714" y="2527477"/>
            <a:ext cx="3715752" cy="1897944"/>
          </a:xfrm>
          <a:prstGeom prst="straightConnector1">
            <a:avLst/>
          </a:prstGeom>
          <a:ln w="50800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58A1FBF-9B70-9249-84AE-F153B5585ED5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4027266" y="2636642"/>
            <a:ext cx="1763934" cy="1771827"/>
          </a:xfrm>
          <a:prstGeom prst="straightConnector1">
            <a:avLst/>
          </a:prstGeom>
          <a:ln w="50800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8DF83C9-A6EE-804C-92DB-6CD4D2CB0265}"/>
              </a:ext>
            </a:extLst>
          </p:cNvPr>
          <p:cNvCxnSpPr>
            <a:cxnSpLocks/>
          </p:cNvCxnSpPr>
          <p:nvPr/>
        </p:nvCxnSpPr>
        <p:spPr>
          <a:xfrm flipH="1" flipV="1">
            <a:off x="6400802" y="2636642"/>
            <a:ext cx="1763934" cy="1762535"/>
          </a:xfrm>
          <a:prstGeom prst="straightConnector1">
            <a:avLst/>
          </a:prstGeom>
          <a:ln w="50800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3F4A030-51B6-5042-A60C-EACDDC13B305}"/>
              </a:ext>
            </a:extLst>
          </p:cNvPr>
          <p:cNvCxnSpPr>
            <a:cxnSpLocks/>
            <a:stCxn id="8" idx="0"/>
            <a:endCxn id="11" idx="0"/>
          </p:cNvCxnSpPr>
          <p:nvPr/>
        </p:nvCxnSpPr>
        <p:spPr>
          <a:xfrm flipH="1" flipV="1">
            <a:off x="6090916" y="2662885"/>
            <a:ext cx="5083" cy="1745583"/>
          </a:xfrm>
          <a:prstGeom prst="straightConnector1">
            <a:avLst/>
          </a:prstGeom>
          <a:ln w="50800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4BD83FB7-3256-B64A-899B-BD11197B6429}"/>
              </a:ext>
            </a:extLst>
          </p:cNvPr>
          <p:cNvSpPr/>
          <p:nvPr/>
        </p:nvSpPr>
        <p:spPr>
          <a:xfrm>
            <a:off x="292775" y="1013375"/>
            <a:ext cx="4207014" cy="1241266"/>
          </a:xfrm>
          <a:prstGeom prst="roundRect">
            <a:avLst/>
          </a:prstGeom>
          <a:noFill/>
          <a:ln w="57150">
            <a:solidFill>
              <a:srgbClr val="5070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ourier" pitchFamily="2" charset="0"/>
              </a:rPr>
              <a:t>Bidirectional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CA864E-6261-1247-99A2-7809A9895C69}"/>
              </a:ext>
            </a:extLst>
          </p:cNvPr>
          <p:cNvSpPr/>
          <p:nvPr/>
        </p:nvSpPr>
        <p:spPr>
          <a:xfrm>
            <a:off x="5565847" y="6368143"/>
            <a:ext cx="6626153" cy="4856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tx1"/>
                </a:solidFill>
                <a:latin typeface="Courier" pitchFamily="2" charset="0"/>
              </a:rPr>
              <a:t>*Cheung, *Beck, Thapa, &amp; Jackson (under review)</a:t>
            </a:r>
          </a:p>
        </p:txBody>
      </p:sp>
      <p:pic>
        <p:nvPicPr>
          <p:cNvPr id="21" name="Picture 20" descr="Icon&#10;&#10;Description automatically generated">
            <a:extLst>
              <a:ext uri="{FF2B5EF4-FFF2-40B4-BE49-F238E27FC236}">
                <a16:creationId xmlns:a16="http://schemas.microsoft.com/office/drawing/2014/main" id="{7222FD11-4BD7-1440-9124-F9C765776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1207" y="6046015"/>
            <a:ext cx="363998" cy="405598"/>
          </a:xfrm>
          <a:prstGeom prst="rect">
            <a:avLst/>
          </a:prstGeom>
        </p:spPr>
      </p:pic>
      <p:pic>
        <p:nvPicPr>
          <p:cNvPr id="22" name="Picture 21" descr="Icon&#10;&#10;Description automatically generated">
            <a:extLst>
              <a:ext uri="{FF2B5EF4-FFF2-40B4-BE49-F238E27FC236}">
                <a16:creationId xmlns:a16="http://schemas.microsoft.com/office/drawing/2014/main" id="{05934E10-93C5-2645-AD1D-47E8A86481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7779" y="6031048"/>
            <a:ext cx="363998" cy="405598"/>
          </a:xfrm>
          <a:prstGeom prst="rect">
            <a:avLst/>
          </a:prstGeom>
        </p:spPr>
      </p:pic>
      <p:pic>
        <p:nvPicPr>
          <p:cNvPr id="23" name="Picture 22" descr="Text&#10;&#10;Description automatically generated">
            <a:extLst>
              <a:ext uri="{FF2B5EF4-FFF2-40B4-BE49-F238E27FC236}">
                <a16:creationId xmlns:a16="http://schemas.microsoft.com/office/drawing/2014/main" id="{20B7CB34-6271-F242-9718-04EDA8D8E2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8015" y="6046015"/>
            <a:ext cx="421941" cy="421941"/>
          </a:xfrm>
          <a:prstGeom prst="rect">
            <a:avLst/>
          </a:prstGeom>
        </p:spPr>
      </p:pic>
      <p:pic>
        <p:nvPicPr>
          <p:cNvPr id="24" name="Picture 23" descr="A picture containing text, sign, businesscard&#10;&#10;Description automatically generated">
            <a:extLst>
              <a:ext uri="{FF2B5EF4-FFF2-40B4-BE49-F238E27FC236}">
                <a16:creationId xmlns:a16="http://schemas.microsoft.com/office/drawing/2014/main" id="{D41548BF-B9CA-F040-A821-83C4B9A9EB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05780" y="6022876"/>
            <a:ext cx="363999" cy="421941"/>
          </a:xfrm>
          <a:prstGeom prst="rect">
            <a:avLst/>
          </a:prstGeom>
        </p:spPr>
      </p:pic>
      <p:graphicFrame>
        <p:nvGraphicFramePr>
          <p:cNvPr id="29" name="Table 2">
            <a:extLst>
              <a:ext uri="{FF2B5EF4-FFF2-40B4-BE49-F238E27FC236}">
                <a16:creationId xmlns:a16="http://schemas.microsoft.com/office/drawing/2014/main" id="{7CF6B87A-1F4F-6841-B7AA-7CDF972AA701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5181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2162651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314008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42205149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292874861"/>
                    </a:ext>
                  </a:extLst>
                </a:gridCol>
              </a:tblGrid>
              <a:tr h="518159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Aim 1: Individuals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+mn-lt"/>
                        </a:rPr>
                        <a:t>Aim 2: Dynamics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070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Aim 3: Integration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Future Directions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9593677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DA8ED4FE-36F4-3A46-9922-E696AE29F009}"/>
              </a:ext>
            </a:extLst>
          </p:cNvPr>
          <p:cNvSpPr/>
          <p:nvPr/>
        </p:nvSpPr>
        <p:spPr>
          <a:xfrm>
            <a:off x="349643" y="2267031"/>
            <a:ext cx="39068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urier" pitchFamily="2" charset="0"/>
              </a:rPr>
              <a:t>Kuykendall, Tay, &amp; Ng, 2015</a:t>
            </a:r>
            <a:endParaRPr lang="en-US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440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roup 127">
            <a:extLst>
              <a:ext uri="{FF2B5EF4-FFF2-40B4-BE49-F238E27FC236}">
                <a16:creationId xmlns:a16="http://schemas.microsoft.com/office/drawing/2014/main" id="{6533F1CD-9B4F-2847-6D16-550215F80DD4}"/>
              </a:ext>
            </a:extLst>
          </p:cNvPr>
          <p:cNvGrpSpPr/>
          <p:nvPr/>
        </p:nvGrpSpPr>
        <p:grpSpPr>
          <a:xfrm>
            <a:off x="14068" y="90760"/>
            <a:ext cx="12185442" cy="2984555"/>
            <a:chOff x="14068" y="90760"/>
            <a:chExt cx="12185442" cy="2984555"/>
          </a:xfrm>
        </p:grpSpPr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4BD83FB7-3256-B64A-899B-BD11197B6429}"/>
                </a:ext>
              </a:extLst>
            </p:cNvPr>
            <p:cNvSpPr/>
            <p:nvPr/>
          </p:nvSpPr>
          <p:spPr>
            <a:xfrm>
              <a:off x="1564874" y="403922"/>
              <a:ext cx="1606248" cy="650695"/>
            </a:xfrm>
            <a:prstGeom prst="roundRect">
              <a:avLst/>
            </a:prstGeom>
            <a:noFill/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Bottom-Up</a:t>
              </a:r>
            </a:p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(Situational)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F5A1B27-83B3-C344-9DE4-5D6AD664885A}"/>
                </a:ext>
              </a:extLst>
            </p:cNvPr>
            <p:cNvSpPr/>
            <p:nvPr/>
          </p:nvSpPr>
          <p:spPr>
            <a:xfrm rot="16200000">
              <a:off x="-85319" y="2477845"/>
              <a:ext cx="689907" cy="27455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b="1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Domain Satisfaction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4865957-5CB4-974E-BE58-D8C2FFA91CED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2043813" y="988669"/>
              <a:ext cx="650695" cy="650695"/>
            </a:xfrm>
            <a:prstGeom prst="ellipse">
              <a:avLst/>
            </a:prstGeom>
            <a:solidFill>
              <a:srgbClr val="8BD3C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 b="1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96E3D3C-DE32-B641-9D0A-7952A9E2C285}"/>
                </a:ext>
              </a:extLst>
            </p:cNvPr>
            <p:cNvSpPr/>
            <p:nvPr/>
          </p:nvSpPr>
          <p:spPr>
            <a:xfrm>
              <a:off x="1956243" y="1174471"/>
              <a:ext cx="823510" cy="2251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Life Satisfaction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4EACA81-9670-4144-A591-262353A8E306}"/>
                </a:ext>
              </a:extLst>
            </p:cNvPr>
            <p:cNvGrpSpPr/>
            <p:nvPr/>
          </p:nvGrpSpPr>
          <p:grpSpPr>
            <a:xfrm>
              <a:off x="496109" y="2293138"/>
              <a:ext cx="3749911" cy="657044"/>
              <a:chOff x="1119601" y="927083"/>
              <a:chExt cx="10012293" cy="1754313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1A69821-8AA4-E54E-A35A-489CA749BDE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19601" y="927084"/>
                <a:ext cx="1737360" cy="173736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b="1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FCAC7D0-F2DE-624C-941D-5ADF1FEF674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188334" y="927084"/>
                <a:ext cx="1737360" cy="173736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b="1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62B36F2B-B24A-A844-8E0F-C61E34FDED1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57067" y="927083"/>
                <a:ext cx="1737360" cy="173736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b="1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BC235BBC-0C87-4244-B2EB-2D145F590C9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25800" y="944036"/>
                <a:ext cx="1737360" cy="173736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b="1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624F1A32-8BF9-274E-96BA-AD1AFCCE3AD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94534" y="944036"/>
                <a:ext cx="1737360" cy="173736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b="1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3346A11F-3247-DB4B-B945-1F81C6A0FD96}"/>
                </a:ext>
              </a:extLst>
            </p:cNvPr>
            <p:cNvCxnSpPr>
              <a:cxnSpLocks/>
              <a:stCxn id="6" idx="0"/>
            </p:cNvCxnSpPr>
            <p:nvPr/>
          </p:nvCxnSpPr>
          <p:spPr>
            <a:xfrm flipV="1">
              <a:off x="821456" y="1603231"/>
              <a:ext cx="1391665" cy="689907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29B6163C-6E92-8C43-B106-8BADA37FE82F}"/>
                </a:ext>
              </a:extLst>
            </p:cNvPr>
            <p:cNvCxnSpPr>
              <a:cxnSpLocks/>
              <a:stCxn id="10" idx="0"/>
            </p:cNvCxnSpPr>
            <p:nvPr/>
          </p:nvCxnSpPr>
          <p:spPr>
            <a:xfrm flipH="1" flipV="1">
              <a:off x="2529009" y="1588649"/>
              <a:ext cx="1391663" cy="710838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258A1FBF-9B70-9249-84AE-F153B5585ED5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V="1">
              <a:off x="1596260" y="1629535"/>
              <a:ext cx="660647" cy="663604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78DF83C9-A6EE-804C-92DB-6CD4D2CB02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85222" y="1629535"/>
              <a:ext cx="660647" cy="660123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D3F4A030-51B6-5042-A60C-EACDDC13B305}"/>
                </a:ext>
              </a:extLst>
            </p:cNvPr>
            <p:cNvCxnSpPr>
              <a:cxnSpLocks/>
              <a:stCxn id="8" idx="0"/>
              <a:endCxn id="11" idx="0"/>
            </p:cNvCxnSpPr>
            <p:nvPr/>
          </p:nvCxnSpPr>
          <p:spPr>
            <a:xfrm flipH="1" flipV="1">
              <a:off x="2369161" y="1639364"/>
              <a:ext cx="1904" cy="653774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FBB7F6A-0822-8A2B-8C7D-D8AA5D31BE48}"/>
                </a:ext>
              </a:extLst>
            </p:cNvPr>
            <p:cNvSpPr/>
            <p:nvPr/>
          </p:nvSpPr>
          <p:spPr>
            <a:xfrm>
              <a:off x="406634" y="2495941"/>
              <a:ext cx="823510" cy="2251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Health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5905145-60A9-D59B-6610-F7F503494198}"/>
                </a:ext>
              </a:extLst>
            </p:cNvPr>
            <p:cNvSpPr/>
            <p:nvPr/>
          </p:nvSpPr>
          <p:spPr>
            <a:xfrm>
              <a:off x="1196809" y="2495941"/>
              <a:ext cx="823510" cy="2251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Income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9D6953E-8240-9FED-74D7-7E4DFF14E0CF}"/>
                </a:ext>
              </a:extLst>
            </p:cNvPr>
            <p:cNvSpPr/>
            <p:nvPr/>
          </p:nvSpPr>
          <p:spPr>
            <a:xfrm>
              <a:off x="1944916" y="2495941"/>
              <a:ext cx="823510" cy="2251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Housing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BDF719B5-2EEE-D3B7-9249-4A9655D8FD6E}"/>
                </a:ext>
              </a:extLst>
            </p:cNvPr>
            <p:cNvSpPr/>
            <p:nvPr/>
          </p:nvSpPr>
          <p:spPr>
            <a:xfrm>
              <a:off x="2735091" y="2495941"/>
              <a:ext cx="823510" cy="2251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Job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DE969C3-675A-E8A3-CDB8-2082CAF7F479}"/>
                </a:ext>
              </a:extLst>
            </p:cNvPr>
            <p:cNvSpPr/>
            <p:nvPr/>
          </p:nvSpPr>
          <p:spPr>
            <a:xfrm>
              <a:off x="3517178" y="2505883"/>
              <a:ext cx="823510" cy="2251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Relationship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A5A0FE0A-CF27-63B6-ED1E-ABF51BB3AF9F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5974441" y="978839"/>
              <a:ext cx="650695" cy="650695"/>
            </a:xfrm>
            <a:prstGeom prst="ellipse">
              <a:avLst/>
            </a:prstGeom>
            <a:solidFill>
              <a:srgbClr val="8BD3C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 b="1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BE65E17-9E62-94EC-803D-DFA836D99EAA}"/>
                </a:ext>
              </a:extLst>
            </p:cNvPr>
            <p:cNvSpPr/>
            <p:nvPr/>
          </p:nvSpPr>
          <p:spPr>
            <a:xfrm>
              <a:off x="5886871" y="1164641"/>
              <a:ext cx="823510" cy="2251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Life Satisfaction</a:t>
              </a:r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8F3D5F8-1255-C99A-29D1-97B7AC322459}"/>
                </a:ext>
              </a:extLst>
            </p:cNvPr>
            <p:cNvGrpSpPr/>
            <p:nvPr/>
          </p:nvGrpSpPr>
          <p:grpSpPr>
            <a:xfrm>
              <a:off x="4426737" y="2283308"/>
              <a:ext cx="3749911" cy="657044"/>
              <a:chOff x="1119601" y="927083"/>
              <a:chExt cx="10012293" cy="1754313"/>
            </a:xfrm>
          </p:grpSpPr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08B1999F-489F-F527-FF48-26BAF7BFAEE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19601" y="927084"/>
                <a:ext cx="1737360" cy="173736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b="1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BD349536-53EA-A354-D610-8A5A36ECBE7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188334" y="927084"/>
                <a:ext cx="1737360" cy="173736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b="1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CFF13A2B-352A-482B-1016-279C94FD679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57067" y="927083"/>
                <a:ext cx="1737360" cy="173736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b="1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6301F975-2241-AC48-3282-5CA7FEAE120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25800" y="944036"/>
                <a:ext cx="1737360" cy="173736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b="1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E8148686-755C-D0A0-2448-45F58ECA641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94534" y="944036"/>
                <a:ext cx="1737360" cy="173736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b="1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643247F4-1D08-A972-38E6-2674BE0A3763}"/>
                </a:ext>
              </a:extLst>
            </p:cNvPr>
            <p:cNvCxnSpPr>
              <a:cxnSpLocks/>
              <a:stCxn id="76" idx="0"/>
            </p:cNvCxnSpPr>
            <p:nvPr/>
          </p:nvCxnSpPr>
          <p:spPr>
            <a:xfrm flipV="1">
              <a:off x="4752084" y="1593401"/>
              <a:ext cx="1391665" cy="689907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3B88D52C-16AD-B720-3F90-CFD039713A32}"/>
                </a:ext>
              </a:extLst>
            </p:cNvPr>
            <p:cNvCxnSpPr>
              <a:cxnSpLocks/>
              <a:stCxn id="80" idx="0"/>
            </p:cNvCxnSpPr>
            <p:nvPr/>
          </p:nvCxnSpPr>
          <p:spPr>
            <a:xfrm flipH="1" flipV="1">
              <a:off x="6459637" y="1578819"/>
              <a:ext cx="1391663" cy="710838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52699455-CE2F-DB23-77CC-37DDFEEF7920}"/>
                </a:ext>
              </a:extLst>
            </p:cNvPr>
            <p:cNvCxnSpPr>
              <a:cxnSpLocks/>
              <a:stCxn id="77" idx="0"/>
            </p:cNvCxnSpPr>
            <p:nvPr/>
          </p:nvCxnSpPr>
          <p:spPr>
            <a:xfrm flipV="1">
              <a:off x="5526888" y="1619705"/>
              <a:ext cx="660647" cy="663604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232E276C-1EB3-548C-D448-C237BB792F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15850" y="1619705"/>
              <a:ext cx="660647" cy="660123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D4AB39FF-66B4-02D2-4AEC-2D8C5CE6293F}"/>
                </a:ext>
              </a:extLst>
            </p:cNvPr>
            <p:cNvCxnSpPr>
              <a:cxnSpLocks/>
              <a:stCxn id="78" idx="0"/>
              <a:endCxn id="63" idx="0"/>
            </p:cNvCxnSpPr>
            <p:nvPr/>
          </p:nvCxnSpPr>
          <p:spPr>
            <a:xfrm flipH="1" flipV="1">
              <a:off x="6299789" y="1629534"/>
              <a:ext cx="1904" cy="653774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168CDBF2-E88F-06A3-16D4-A34A072F1199}"/>
                </a:ext>
              </a:extLst>
            </p:cNvPr>
            <p:cNvSpPr/>
            <p:nvPr/>
          </p:nvSpPr>
          <p:spPr>
            <a:xfrm>
              <a:off x="4337262" y="2486111"/>
              <a:ext cx="823510" cy="2251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Health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DD1B710E-370A-1C01-E840-69F26BF932AC}"/>
                </a:ext>
              </a:extLst>
            </p:cNvPr>
            <p:cNvSpPr/>
            <p:nvPr/>
          </p:nvSpPr>
          <p:spPr>
            <a:xfrm>
              <a:off x="5127437" y="2486111"/>
              <a:ext cx="823510" cy="2251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Income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00C87697-6982-B8E6-4DC6-CDF6DBEE9008}"/>
                </a:ext>
              </a:extLst>
            </p:cNvPr>
            <p:cNvSpPr/>
            <p:nvPr/>
          </p:nvSpPr>
          <p:spPr>
            <a:xfrm>
              <a:off x="5875544" y="2486111"/>
              <a:ext cx="823510" cy="2251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Housing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26AACA38-6069-EA95-9EBB-2B42B7768251}"/>
                </a:ext>
              </a:extLst>
            </p:cNvPr>
            <p:cNvSpPr/>
            <p:nvPr/>
          </p:nvSpPr>
          <p:spPr>
            <a:xfrm>
              <a:off x="6665719" y="2486111"/>
              <a:ext cx="823510" cy="2251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Job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ED3A363A-4D2D-453F-33BD-683D713EF400}"/>
                </a:ext>
              </a:extLst>
            </p:cNvPr>
            <p:cNvSpPr/>
            <p:nvPr/>
          </p:nvSpPr>
          <p:spPr>
            <a:xfrm>
              <a:off x="7447806" y="2496053"/>
              <a:ext cx="823510" cy="2251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Relationship</a:t>
              </a:r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26DD9CB4-A6D0-8968-C250-124CEA5F4980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9902635" y="988669"/>
              <a:ext cx="650695" cy="650695"/>
            </a:xfrm>
            <a:prstGeom prst="ellipse">
              <a:avLst/>
            </a:prstGeom>
            <a:solidFill>
              <a:srgbClr val="8BD3C7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 b="1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53CBE115-A2E0-C802-33A5-9814ED8D214E}"/>
                </a:ext>
              </a:extLst>
            </p:cNvPr>
            <p:cNvSpPr/>
            <p:nvPr/>
          </p:nvSpPr>
          <p:spPr>
            <a:xfrm>
              <a:off x="9815065" y="1174471"/>
              <a:ext cx="823510" cy="2251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Life Satisfaction</a:t>
              </a:r>
            </a:p>
          </p:txBody>
        </p: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8F93F920-715B-A542-8900-E9AA271BD88C}"/>
                </a:ext>
              </a:extLst>
            </p:cNvPr>
            <p:cNvGrpSpPr/>
            <p:nvPr/>
          </p:nvGrpSpPr>
          <p:grpSpPr>
            <a:xfrm>
              <a:off x="8354931" y="2293138"/>
              <a:ext cx="3749911" cy="657044"/>
              <a:chOff x="1119601" y="927083"/>
              <a:chExt cx="10012293" cy="1754313"/>
            </a:xfrm>
          </p:grpSpPr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90139021-E227-BB78-2CF7-99534EE3FCF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19601" y="927084"/>
                <a:ext cx="1737360" cy="173736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b="1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9B61DF3D-592C-AF0A-C9F8-1093DF97CBD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188334" y="927084"/>
                <a:ext cx="1737360" cy="173736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b="1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36CCCF97-A2E3-4AD9-1D85-754C697F32C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57067" y="927083"/>
                <a:ext cx="1737360" cy="173736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b="1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E8D7071C-DC0B-17EE-3443-FAC2346780D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25800" y="944036"/>
                <a:ext cx="1737360" cy="173736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b="1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B0FC736E-00F6-0F37-788F-6CD735E391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94534" y="944036"/>
                <a:ext cx="1737360" cy="173736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b="1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endParaRPr>
              </a:p>
            </p:txBody>
          </p:sp>
        </p:grp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912D15AE-89B7-0E94-82E7-FB9C2DCEF786}"/>
                </a:ext>
              </a:extLst>
            </p:cNvPr>
            <p:cNvCxnSpPr>
              <a:cxnSpLocks/>
              <a:stCxn id="96" idx="0"/>
            </p:cNvCxnSpPr>
            <p:nvPr/>
          </p:nvCxnSpPr>
          <p:spPr>
            <a:xfrm flipV="1">
              <a:off x="8680278" y="1603231"/>
              <a:ext cx="1391665" cy="689907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CD602F95-009C-7BE9-1A95-1AEAF55C825D}"/>
                </a:ext>
              </a:extLst>
            </p:cNvPr>
            <p:cNvCxnSpPr>
              <a:cxnSpLocks/>
              <a:stCxn id="100" idx="0"/>
            </p:cNvCxnSpPr>
            <p:nvPr/>
          </p:nvCxnSpPr>
          <p:spPr>
            <a:xfrm flipH="1" flipV="1">
              <a:off x="10387831" y="1588649"/>
              <a:ext cx="1391663" cy="710838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CBE0ED1B-FB05-5C55-B128-8E42B052B754}"/>
                </a:ext>
              </a:extLst>
            </p:cNvPr>
            <p:cNvCxnSpPr>
              <a:cxnSpLocks/>
              <a:stCxn id="97" idx="0"/>
            </p:cNvCxnSpPr>
            <p:nvPr/>
          </p:nvCxnSpPr>
          <p:spPr>
            <a:xfrm flipV="1">
              <a:off x="9455082" y="1629535"/>
              <a:ext cx="660647" cy="663604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EECC8939-4D13-C298-A4C9-E314899B4A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44044" y="1629535"/>
              <a:ext cx="660647" cy="660123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1B144C2C-0630-E4EB-CB78-B5BD2B48A0AE}"/>
                </a:ext>
              </a:extLst>
            </p:cNvPr>
            <p:cNvCxnSpPr>
              <a:cxnSpLocks/>
              <a:stCxn id="98" idx="0"/>
              <a:endCxn id="83" idx="0"/>
            </p:cNvCxnSpPr>
            <p:nvPr/>
          </p:nvCxnSpPr>
          <p:spPr>
            <a:xfrm flipH="1" flipV="1">
              <a:off x="10227983" y="1639364"/>
              <a:ext cx="1904" cy="653774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CC178E89-96F5-AC76-5613-D82FCD0CFAE6}"/>
                </a:ext>
              </a:extLst>
            </p:cNvPr>
            <p:cNvSpPr/>
            <p:nvPr/>
          </p:nvSpPr>
          <p:spPr>
            <a:xfrm>
              <a:off x="8265456" y="2495941"/>
              <a:ext cx="823510" cy="2251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Health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2AF8B08C-A211-18D0-3A19-411FF85D2056}"/>
                </a:ext>
              </a:extLst>
            </p:cNvPr>
            <p:cNvSpPr/>
            <p:nvPr/>
          </p:nvSpPr>
          <p:spPr>
            <a:xfrm>
              <a:off x="9055631" y="2495941"/>
              <a:ext cx="823510" cy="2251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Income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2C2A1250-DF07-93E1-3D4A-757D7C6301AB}"/>
                </a:ext>
              </a:extLst>
            </p:cNvPr>
            <p:cNvSpPr/>
            <p:nvPr/>
          </p:nvSpPr>
          <p:spPr>
            <a:xfrm>
              <a:off x="9803738" y="2495941"/>
              <a:ext cx="823510" cy="2251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Housing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D53E101D-948A-BEBE-04EC-B4AF28FCB495}"/>
                </a:ext>
              </a:extLst>
            </p:cNvPr>
            <p:cNvSpPr/>
            <p:nvPr/>
          </p:nvSpPr>
          <p:spPr>
            <a:xfrm>
              <a:off x="10593913" y="2495941"/>
              <a:ext cx="823510" cy="2251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Job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F3EB82E6-1ED8-81DB-7733-0B44E635DB66}"/>
                </a:ext>
              </a:extLst>
            </p:cNvPr>
            <p:cNvSpPr/>
            <p:nvPr/>
          </p:nvSpPr>
          <p:spPr>
            <a:xfrm>
              <a:off x="11376000" y="2505883"/>
              <a:ext cx="823510" cy="2251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Relationship</a:t>
              </a:r>
            </a:p>
          </p:txBody>
        </p:sp>
        <p:sp>
          <p:nvSpPr>
            <p:cNvPr id="103" name="Rounded Rectangle 102">
              <a:extLst>
                <a:ext uri="{FF2B5EF4-FFF2-40B4-BE49-F238E27FC236}">
                  <a16:creationId xmlns:a16="http://schemas.microsoft.com/office/drawing/2014/main" id="{386EAD95-EAA6-F570-719C-BF21AE65E52C}"/>
                </a:ext>
              </a:extLst>
            </p:cNvPr>
            <p:cNvSpPr/>
            <p:nvPr/>
          </p:nvSpPr>
          <p:spPr>
            <a:xfrm>
              <a:off x="5495502" y="407235"/>
              <a:ext cx="1606248" cy="650695"/>
            </a:xfrm>
            <a:prstGeom prst="roundRect">
              <a:avLst/>
            </a:prstGeom>
            <a:noFill/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Top-Down</a:t>
              </a:r>
            </a:p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(Dispositional)</a:t>
              </a:r>
            </a:p>
          </p:txBody>
        </p:sp>
        <p:sp>
          <p:nvSpPr>
            <p:cNvPr id="104" name="Rounded Rectangle 103">
              <a:extLst>
                <a:ext uri="{FF2B5EF4-FFF2-40B4-BE49-F238E27FC236}">
                  <a16:creationId xmlns:a16="http://schemas.microsoft.com/office/drawing/2014/main" id="{8C4B93CD-D76C-C75F-6A34-23872CB7E258}"/>
                </a:ext>
              </a:extLst>
            </p:cNvPr>
            <p:cNvSpPr/>
            <p:nvPr/>
          </p:nvSpPr>
          <p:spPr>
            <a:xfrm>
              <a:off x="9421640" y="399699"/>
              <a:ext cx="1606248" cy="650695"/>
            </a:xfrm>
            <a:prstGeom prst="roundRect">
              <a:avLst/>
            </a:prstGeom>
            <a:noFill/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Bi-Directional</a:t>
              </a: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E0697895-2439-2110-F8D3-3CDE5CB21051}"/>
                </a:ext>
              </a:extLst>
            </p:cNvPr>
            <p:cNvSpPr/>
            <p:nvPr/>
          </p:nvSpPr>
          <p:spPr>
            <a:xfrm>
              <a:off x="16412" y="454778"/>
              <a:ext cx="12161520" cy="262053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1CCE867E-FEAC-C9B3-098A-E8EE1DF3BFD1}"/>
                </a:ext>
              </a:extLst>
            </p:cNvPr>
            <p:cNvCxnSpPr/>
            <p:nvPr/>
          </p:nvCxnSpPr>
          <p:spPr>
            <a:xfrm flipV="1">
              <a:off x="4341323" y="454778"/>
              <a:ext cx="0" cy="26205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D98CD273-8148-5A47-0880-E45658987EC4}"/>
                </a:ext>
              </a:extLst>
            </p:cNvPr>
            <p:cNvCxnSpPr/>
            <p:nvPr/>
          </p:nvCxnSpPr>
          <p:spPr>
            <a:xfrm flipV="1">
              <a:off x="8274883" y="454778"/>
              <a:ext cx="0" cy="262053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52464CDB-4A65-C35C-343E-BB1C1C9664C3}"/>
                </a:ext>
              </a:extLst>
            </p:cNvPr>
            <p:cNvSpPr/>
            <p:nvPr/>
          </p:nvSpPr>
          <p:spPr>
            <a:xfrm>
              <a:off x="14068" y="90760"/>
              <a:ext cx="12161520" cy="361296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Helvetica" pitchFamily="2" charset="0"/>
                </a:rPr>
                <a:t>Population-Level Theoretical Perspectives on Happiness: Which theory is correct for everyone?</a:t>
              </a:r>
            </a:p>
          </p:txBody>
        </p:sp>
      </p:grpSp>
      <p:sp>
        <p:nvSpPr>
          <p:cNvPr id="113" name="Rounded Rectangle 112">
            <a:extLst>
              <a:ext uri="{FF2B5EF4-FFF2-40B4-BE49-F238E27FC236}">
                <a16:creationId xmlns:a16="http://schemas.microsoft.com/office/drawing/2014/main" id="{AE3DC0C6-17C3-BC8D-A6D2-CA4EE03405C9}"/>
              </a:ext>
            </a:extLst>
          </p:cNvPr>
          <p:cNvSpPr/>
          <p:nvPr/>
        </p:nvSpPr>
        <p:spPr>
          <a:xfrm>
            <a:off x="1465677" y="3447940"/>
            <a:ext cx="1606248" cy="650695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Non-Directional</a:t>
            </a: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C48F11BE-3726-F409-1F6E-A26D0B37E466}"/>
              </a:ext>
            </a:extLst>
          </p:cNvPr>
          <p:cNvSpPr>
            <a:spLocks noChangeAspect="1"/>
          </p:cNvSpPr>
          <p:nvPr/>
        </p:nvSpPr>
        <p:spPr>
          <a:xfrm flipV="1">
            <a:off x="1944616" y="4032687"/>
            <a:ext cx="650695" cy="650695"/>
          </a:xfrm>
          <a:prstGeom prst="ellipse">
            <a:avLst/>
          </a:prstGeom>
          <a:solidFill>
            <a:srgbClr val="8BD3C7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00" b="1" dirty="0">
              <a:solidFill>
                <a:schemeClr val="tx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0B6D82CC-92EE-4EAC-61CA-55C09089B854}"/>
              </a:ext>
            </a:extLst>
          </p:cNvPr>
          <p:cNvGrpSpPr/>
          <p:nvPr/>
        </p:nvGrpSpPr>
        <p:grpSpPr>
          <a:xfrm>
            <a:off x="396912" y="5337156"/>
            <a:ext cx="3749911" cy="657044"/>
            <a:chOff x="1119601" y="927083"/>
            <a:chExt cx="10012293" cy="1754313"/>
          </a:xfrm>
        </p:grpSpPr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99BF1F9D-6548-C643-07CF-394E787944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9601" y="927084"/>
              <a:ext cx="1737360" cy="173736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 b="1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B4ABA7FB-853C-0022-7AD4-DA79285B9E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88334" y="927084"/>
              <a:ext cx="1737360" cy="173736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 b="1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9E24C221-B857-D6B3-C352-83BB1715B4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57067" y="927083"/>
              <a:ext cx="1737360" cy="173736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 b="1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6FABDC7E-3333-0F91-CF35-0D6AB100EA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25800" y="944036"/>
              <a:ext cx="1737360" cy="173736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 b="1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BD2CD778-029F-15A5-B09A-54C6C7A3CF1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94534" y="944036"/>
              <a:ext cx="1737360" cy="173736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 b="1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CC4EBF5-CD78-0D78-EC3A-7BA11852DEB7}"/>
              </a:ext>
            </a:extLst>
          </p:cNvPr>
          <p:cNvSpPr/>
          <p:nvPr/>
        </p:nvSpPr>
        <p:spPr>
          <a:xfrm>
            <a:off x="307437" y="5539959"/>
            <a:ext cx="823510" cy="2251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Health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485C183-54C2-93EF-EAC4-FE5DD5D60FFF}"/>
              </a:ext>
            </a:extLst>
          </p:cNvPr>
          <p:cNvSpPr/>
          <p:nvPr/>
        </p:nvSpPr>
        <p:spPr>
          <a:xfrm>
            <a:off x="1097612" y="5539959"/>
            <a:ext cx="823510" cy="2251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Income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6F35E2BB-7717-39E4-66E2-FAF38684AAE5}"/>
              </a:ext>
            </a:extLst>
          </p:cNvPr>
          <p:cNvSpPr/>
          <p:nvPr/>
        </p:nvSpPr>
        <p:spPr>
          <a:xfrm>
            <a:off x="1845719" y="5539959"/>
            <a:ext cx="823510" cy="2251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Housing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BC582037-F734-E31B-BBE0-758B4972E0FB}"/>
              </a:ext>
            </a:extLst>
          </p:cNvPr>
          <p:cNvSpPr/>
          <p:nvPr/>
        </p:nvSpPr>
        <p:spPr>
          <a:xfrm>
            <a:off x="2635894" y="5539959"/>
            <a:ext cx="823510" cy="2251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Job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60B89CE3-CD44-AC3C-0365-C7F7782C0E0D}"/>
              </a:ext>
            </a:extLst>
          </p:cNvPr>
          <p:cNvSpPr/>
          <p:nvPr/>
        </p:nvSpPr>
        <p:spPr>
          <a:xfrm>
            <a:off x="3417981" y="5549901"/>
            <a:ext cx="823510" cy="2251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Relationship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54ABA715-25BE-0328-4CAA-E0F1DD0D294F}"/>
              </a:ext>
            </a:extLst>
          </p:cNvPr>
          <p:cNvSpPr/>
          <p:nvPr/>
        </p:nvSpPr>
        <p:spPr>
          <a:xfrm>
            <a:off x="1866190" y="4214624"/>
            <a:ext cx="823510" cy="2251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Life Satisfaction</a:t>
            </a:r>
          </a:p>
        </p:txBody>
      </p:sp>
    </p:spTree>
    <p:extLst>
      <p:ext uri="{BB962C8B-B14F-4D97-AF65-F5344CB8AC3E}">
        <p14:creationId xmlns:p14="http://schemas.microsoft.com/office/powerpoint/2010/main" val="1107604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2FE0F607-3B19-BAF2-8630-EB1E89FEF1A2}"/>
              </a:ext>
            </a:extLst>
          </p:cNvPr>
          <p:cNvGrpSpPr/>
          <p:nvPr/>
        </p:nvGrpSpPr>
        <p:grpSpPr>
          <a:xfrm>
            <a:off x="3055620" y="151718"/>
            <a:ext cx="6080761" cy="6659389"/>
            <a:chOff x="3055620" y="151718"/>
            <a:chExt cx="6080761" cy="6659389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1CDFA62B-20CC-85F8-3F44-78D9F05680B0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812409"/>
              <a:ext cx="0" cy="594360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7444BB83-BF11-A8B5-DD90-45FB4732B95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096000" y="812410"/>
              <a:ext cx="0" cy="594360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49E5611-1B0B-DE23-F933-497274A6534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980"/>
            <a:stretch/>
          </p:blipFill>
          <p:spPr>
            <a:xfrm>
              <a:off x="7273335" y="812409"/>
              <a:ext cx="1765158" cy="1140184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29C54C9-6915-F116-E121-F7CF04FD31D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3608" r="33922"/>
            <a:stretch/>
          </p:blipFill>
          <p:spPr>
            <a:xfrm>
              <a:off x="7302687" y="5609965"/>
              <a:ext cx="1735806" cy="1140184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A25EA59-43D5-3144-EBCC-552EF35DD4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67608"/>
            <a:stretch/>
          </p:blipFill>
          <p:spPr>
            <a:xfrm>
              <a:off x="3163077" y="812409"/>
              <a:ext cx="1731610" cy="1140184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BDF17E8-DF6E-BDA5-5355-B17F2066A9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63077" y="5593821"/>
              <a:ext cx="1886546" cy="1173419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305AC4B-DB3B-4AC6-B83A-1D2F6CAF5A95}"/>
                </a:ext>
              </a:extLst>
            </p:cNvPr>
            <p:cNvSpPr/>
            <p:nvPr/>
          </p:nvSpPr>
          <p:spPr>
            <a:xfrm>
              <a:off x="3055620" y="726830"/>
              <a:ext cx="6080760" cy="608427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F7B693E-6A85-7BB1-2241-C895639932AC}"/>
                </a:ext>
              </a:extLst>
            </p:cNvPr>
            <p:cNvSpPr/>
            <p:nvPr/>
          </p:nvSpPr>
          <p:spPr>
            <a:xfrm>
              <a:off x="3055621" y="151718"/>
              <a:ext cx="6080760" cy="575112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err="1">
                  <a:latin typeface="Helvetica" pitchFamily="2" charset="0"/>
                </a:rPr>
                <a:t>Personalised</a:t>
              </a:r>
              <a:r>
                <a:rPr lang="en-US" b="1" dirty="0">
                  <a:latin typeface="Helvetica" pitchFamily="2" charset="0"/>
                </a:rPr>
                <a:t> Perspectives on Happiness: </a:t>
              </a:r>
            </a:p>
            <a:p>
              <a:pPr algn="ctr"/>
              <a:r>
                <a:rPr lang="en-US" b="1" dirty="0">
                  <a:latin typeface="Helvetica" pitchFamily="2" charset="0"/>
                </a:rPr>
                <a:t>For whom is each theory correct?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E735711-5883-F175-B5E4-4CAD8A1D758F}"/>
                </a:ext>
              </a:extLst>
            </p:cNvPr>
            <p:cNvSpPr/>
            <p:nvPr/>
          </p:nvSpPr>
          <p:spPr>
            <a:xfrm>
              <a:off x="7650060" y="3880339"/>
              <a:ext cx="1383325" cy="304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Helvetica" pitchFamily="2" charset="0"/>
                </a:rPr>
                <a:t>Strong bottom-up patterns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68259F0-2702-B36A-E434-4961EC115364}"/>
                </a:ext>
              </a:extLst>
            </p:cNvPr>
            <p:cNvSpPr/>
            <p:nvPr/>
          </p:nvSpPr>
          <p:spPr>
            <a:xfrm>
              <a:off x="3158616" y="3898747"/>
              <a:ext cx="1383325" cy="304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Helvetica" pitchFamily="2" charset="0"/>
                </a:rPr>
                <a:t>Weak bottom-up patterns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6BF73F-AD89-852C-0FC8-694AE7362F7D}"/>
                </a:ext>
              </a:extLst>
            </p:cNvPr>
            <p:cNvSpPr/>
            <p:nvPr/>
          </p:nvSpPr>
          <p:spPr>
            <a:xfrm>
              <a:off x="6073478" y="997142"/>
              <a:ext cx="1383325" cy="304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Helvetica" pitchFamily="2" charset="0"/>
                </a:rPr>
                <a:t>Strong top-down patterns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0A2624E-CF9E-E7C9-494F-970A61AF72EA}"/>
                </a:ext>
              </a:extLst>
            </p:cNvPr>
            <p:cNvSpPr/>
            <p:nvPr/>
          </p:nvSpPr>
          <p:spPr>
            <a:xfrm>
              <a:off x="6007682" y="6215226"/>
              <a:ext cx="1383325" cy="304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Helvetica" pitchFamily="2" charset="0"/>
                </a:rPr>
                <a:t>Weak top-down patterns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567DEAC-18A6-B5C5-3C24-3AA5A7E246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1200"/>
                      </a14:imgEffect>
                    </a14:imgLayer>
                  </a14:imgProps>
                </a:ext>
              </a:extLst>
            </a:blip>
            <a:srcRect l="30249" t="5570" r="32531" b="7512"/>
            <a:stretch/>
          </p:blipFill>
          <p:spPr>
            <a:xfrm>
              <a:off x="6281570" y="3036615"/>
              <a:ext cx="278516" cy="651465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6D6F066-4F28-54CE-F04D-3DC4886A89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1200"/>
                      </a14:imgEffect>
                    </a14:imgLayer>
                  </a14:imgProps>
                </a:ext>
              </a:extLst>
            </a:blip>
            <a:srcRect l="30249" t="5570" r="32531" b="7512"/>
            <a:stretch/>
          </p:blipFill>
          <p:spPr>
            <a:xfrm>
              <a:off x="7782124" y="2073841"/>
              <a:ext cx="278516" cy="651465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2F71133-E9FC-443C-0B07-34E92B2862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1200"/>
                      </a14:imgEffect>
                    </a14:imgLayer>
                  </a14:imgProps>
                </a:ext>
              </a:extLst>
            </a:blip>
            <a:srcRect l="30249" t="5570" r="32531" b="7512"/>
            <a:stretch/>
          </p:blipFill>
          <p:spPr>
            <a:xfrm>
              <a:off x="5216828" y="2073841"/>
              <a:ext cx="278516" cy="65146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6161898B-869D-807E-F3D7-3E7266B724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1200"/>
                      </a14:imgEffect>
                    </a14:imgLayer>
                  </a14:imgProps>
                </a:ext>
              </a:extLst>
            </a:blip>
            <a:srcRect l="30249" t="5570" r="32531" b="7512"/>
            <a:stretch/>
          </p:blipFill>
          <p:spPr>
            <a:xfrm>
              <a:off x="4677987" y="2482982"/>
              <a:ext cx="278516" cy="651465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847FB75-5A61-97C4-24A9-614D76ACFB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1200"/>
                      </a14:imgEffect>
                    </a14:imgLayer>
                  </a14:imgProps>
                </a:ext>
              </a:extLst>
            </a:blip>
            <a:srcRect l="30249" t="5570" r="32531" b="7512"/>
            <a:stretch/>
          </p:blipFill>
          <p:spPr>
            <a:xfrm>
              <a:off x="5492117" y="3880339"/>
              <a:ext cx="278516" cy="651465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617510AB-41E7-C234-EB52-D553FDD590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1200"/>
                      </a14:imgEffect>
                    </a14:imgLayer>
                  </a14:imgProps>
                </a:ext>
              </a:extLst>
            </a:blip>
            <a:srcRect l="30249" t="5570" r="32531" b="7512"/>
            <a:stretch/>
          </p:blipFill>
          <p:spPr>
            <a:xfrm>
              <a:off x="6295468" y="4012109"/>
              <a:ext cx="278516" cy="651465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59F07849-384B-0FE8-09B7-5C847E8267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1200"/>
                      </a14:imgEffect>
                    </a14:imgLayer>
                  </a14:imgProps>
                </a:ext>
              </a:extLst>
            </a:blip>
            <a:srcRect l="30249" t="5570" r="32531" b="7512"/>
            <a:stretch/>
          </p:blipFill>
          <p:spPr>
            <a:xfrm>
              <a:off x="6749588" y="2732152"/>
              <a:ext cx="278516" cy="651465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E13C528F-19FC-BEBC-03D6-8471E913138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1200"/>
                      </a14:imgEffect>
                    </a14:imgLayer>
                  </a14:imgProps>
                </a:ext>
              </a:extLst>
            </a:blip>
            <a:srcRect l="30249" t="5570" r="32531" b="7512"/>
            <a:stretch/>
          </p:blipFill>
          <p:spPr>
            <a:xfrm>
              <a:off x="6337434" y="2157249"/>
              <a:ext cx="278516" cy="651465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CC93D5C6-49E8-EB5A-0435-0070B831EA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1200"/>
                      </a14:imgEffect>
                    </a14:imgLayer>
                  </a14:imgProps>
                </a:ext>
              </a:extLst>
            </a:blip>
            <a:srcRect l="30249" t="5570" r="32531" b="7512"/>
            <a:stretch/>
          </p:blipFill>
          <p:spPr>
            <a:xfrm>
              <a:off x="6749588" y="1925442"/>
              <a:ext cx="278516" cy="651465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31B73407-04B6-539D-C4C7-6E4699A5589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1200"/>
                      </a14:imgEffect>
                    </a14:imgLayer>
                  </a14:imgProps>
                </a:ext>
              </a:extLst>
            </a:blip>
            <a:srcRect l="30249" t="5570" r="32531" b="7512"/>
            <a:stretch/>
          </p:blipFill>
          <p:spPr>
            <a:xfrm>
              <a:off x="5042159" y="2932448"/>
              <a:ext cx="278516" cy="651465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E6D32BB3-E2E1-93FF-FC57-56C1D95005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1200"/>
                      </a14:imgEffect>
                    </a14:imgLayer>
                  </a14:imgProps>
                </a:ext>
              </a:extLst>
            </a:blip>
            <a:srcRect l="30249" t="5570" r="32531" b="7512"/>
            <a:stretch/>
          </p:blipFill>
          <p:spPr>
            <a:xfrm>
              <a:off x="3770374" y="2932448"/>
              <a:ext cx="278516" cy="651465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FD64732B-C6A1-0C58-5AED-6985B299F7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1200"/>
                      </a14:imgEffect>
                    </a14:imgLayer>
                  </a14:imgProps>
                </a:ext>
              </a:extLst>
            </a:blip>
            <a:srcRect l="30249" t="5570" r="32531" b="7512"/>
            <a:stretch/>
          </p:blipFill>
          <p:spPr>
            <a:xfrm>
              <a:off x="6938663" y="4646193"/>
              <a:ext cx="278516" cy="651465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62AD1EB6-576B-EDF5-9B8F-7A237778470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1200"/>
                      </a14:imgEffect>
                    </a14:imgLayer>
                  </a14:imgProps>
                </a:ext>
              </a:extLst>
            </a:blip>
            <a:srcRect l="30249" t="5570" r="32531" b="7512"/>
            <a:stretch/>
          </p:blipFill>
          <p:spPr>
            <a:xfrm>
              <a:off x="7077921" y="3933770"/>
              <a:ext cx="278516" cy="651465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12719706-6523-08ED-3EA5-185F32FC83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1200"/>
                      </a14:imgEffect>
                    </a14:imgLayer>
                  </a14:imgProps>
                </a:ext>
              </a:extLst>
            </a:blip>
            <a:srcRect l="30249" t="5570" r="32531" b="7512"/>
            <a:stretch/>
          </p:blipFill>
          <p:spPr>
            <a:xfrm>
              <a:off x="7510802" y="4903404"/>
              <a:ext cx="278516" cy="6514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51857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296</Words>
  <Application>Microsoft Macintosh PowerPoint</Application>
  <PresentationFormat>Widescreen</PresentationFormat>
  <Paragraphs>88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Courier</vt:lpstr>
      <vt:lpstr>Helvetica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Emorie Danielle Beck</dc:creator>
  <cp:lastModifiedBy>Emorie Danielle Beck</cp:lastModifiedBy>
  <cp:revision>2</cp:revision>
  <dcterms:created xsi:type="dcterms:W3CDTF">2023-05-16T23:52:53Z</dcterms:created>
  <dcterms:modified xsi:type="dcterms:W3CDTF">2023-05-30T21:22:52Z</dcterms:modified>
</cp:coreProperties>
</file>